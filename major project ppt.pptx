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13A752-F26B-4C8C-BA62-AC5254D58242}" v="1" dt="2026-09-05T08:14:43.226"/>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49" autoAdjust="0"/>
    <p:restoredTop sz="95033" autoAdjust="0"/>
  </p:normalViewPr>
  <p:slideViewPr>
    <p:cSldViewPr snapToGrid="0">
      <p:cViewPr varScale="1">
        <p:scale>
          <a:sx n="77" d="100"/>
          <a:sy n="77" d="100"/>
        </p:scale>
        <p:origin x="88" y="2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INIVIHAGNA KODEPAKA" userId="0c29205fea081fa8" providerId="LiveId" clId="{86AAFDC0-D4A4-492D-8BD9-C146A824DDAD}"/>
    <pc:docChg chg="modSld">
      <pc:chgData name="HASINIVIHAGNA KODEPAKA" userId="0c29205fea081fa8" providerId="LiveId" clId="{86AAFDC0-D4A4-492D-8BD9-C146A824DDAD}" dt="2026-09-05T08:14:46.466" v="6" actId="1076"/>
      <pc:docMkLst>
        <pc:docMk/>
      </pc:docMkLst>
      <pc:sldChg chg="modSp mod">
        <pc:chgData name="HASINIVIHAGNA KODEPAKA" userId="0c29205fea081fa8" providerId="LiveId" clId="{86AAFDC0-D4A4-492D-8BD9-C146A824DDAD}" dt="2026-09-05T08:14:46.466" v="6" actId="1076"/>
        <pc:sldMkLst>
          <pc:docMk/>
          <pc:sldMk cId="3863610428" sldId="342"/>
        </pc:sldMkLst>
        <pc:spChg chg="mod">
          <ac:chgData name="HASINIVIHAGNA KODEPAKA" userId="0c29205fea081fa8" providerId="LiveId" clId="{86AAFDC0-D4A4-492D-8BD9-C146A824DDAD}" dt="2026-09-05T08:14:46.466" v="6" actId="1076"/>
          <ac:spMkLst>
            <pc:docMk/>
            <pc:sldMk cId="3863610428" sldId="342"/>
            <ac:spMk id="3" creationId="{5F0B37E4-66B1-8633-7266-68B321742757}"/>
          </ac:spMkLst>
        </pc:spChg>
      </pc:sldChg>
      <pc:sldChg chg="addSp modSp mod">
        <pc:chgData name="HASINIVIHAGNA KODEPAKA" userId="0c29205fea081fa8" providerId="LiveId" clId="{86AAFDC0-D4A4-492D-8BD9-C146A824DDAD}" dt="2026-09-05T07:55:31.325" v="3" actId="14100"/>
        <pc:sldMkLst>
          <pc:docMk/>
          <pc:sldMk cId="3962802212" sldId="343"/>
        </pc:sldMkLst>
        <pc:picChg chg="add mod">
          <ac:chgData name="HASINIVIHAGNA KODEPAKA" userId="0c29205fea081fa8" providerId="LiveId" clId="{86AAFDC0-D4A4-492D-8BD9-C146A824DDAD}" dt="2026-09-05T07:55:31.325" v="3" actId="14100"/>
          <ac:picMkLst>
            <pc:docMk/>
            <pc:sldMk cId="3962802212" sldId="343"/>
            <ac:picMk id="3" creationId="{06212D59-DA07-BF2D-BE34-640ADDF6DB3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44409" y="3582167"/>
            <a:ext cx="10299831" cy="861497"/>
          </a:xfrm>
        </p:spPr>
        <p:txBody>
          <a:bodyPr vert="horz" lIns="91440" tIns="45720" rIns="91440" bIns="45720" rtlCol="0" anchor="t">
            <a:normAutofit/>
          </a:bodyPr>
          <a:lstStyle/>
          <a:p>
            <a:r>
              <a:rPr lang="en-US" b="0" dirty="0">
                <a:solidFill>
                  <a:schemeClr val="tx1"/>
                </a:solidFill>
              </a:rPr>
              <a:t>Student Name – K. Hasini </a:t>
            </a:r>
            <a:r>
              <a:rPr lang="en-US" b="0" dirty="0" err="1">
                <a:solidFill>
                  <a:schemeClr val="tx1"/>
                </a:solidFill>
              </a:rPr>
              <a:t>Vihagna</a:t>
            </a:r>
            <a:r>
              <a:rPr lang="en-US" b="0" dirty="0">
                <a:solidFill>
                  <a:schemeClr val="tx1"/>
                </a:solidFill>
              </a:rPr>
              <a:t> </a:t>
            </a:r>
          </a:p>
          <a:p>
            <a:r>
              <a:rPr lang="en-US" b="0" dirty="0">
                <a:solidFill>
                  <a:schemeClr val="tx1"/>
                </a:solidFill>
              </a:rPr>
              <a:t>College Name - Kakatiya Institute of </a:t>
            </a:r>
            <a:r>
              <a:rPr lang="en-US" b="0" dirty="0" err="1">
                <a:solidFill>
                  <a:schemeClr val="tx1"/>
                </a:solidFill>
              </a:rPr>
              <a:t>Techonology</a:t>
            </a:r>
            <a:r>
              <a:rPr lang="en-US" b="0" dirty="0">
                <a:solidFill>
                  <a:schemeClr val="tx1"/>
                </a:solidFill>
              </a:rPr>
              <a:t> and science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44409" y="2819864"/>
            <a:ext cx="11677963" cy="685031"/>
          </a:xfrm>
        </p:spPr>
        <p:txBody>
          <a:bodyPr>
            <a:normAutofit/>
          </a:bodyPr>
          <a:lstStyle/>
          <a:p>
            <a:r>
              <a:rPr lang="en-GB" sz="3200" dirty="0"/>
              <a:t>Project Title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44409" y="4709473"/>
            <a:ext cx="5243889" cy="369332"/>
          </a:xfrm>
          <a:prstGeom prst="rect">
            <a:avLst/>
          </a:prstGeom>
          <a:noFill/>
        </p:spPr>
        <p:txBody>
          <a:bodyPr wrap="square" rtlCol="0">
            <a:spAutoFit/>
          </a:bodyPr>
          <a:lstStyle/>
          <a:p>
            <a:r>
              <a:rPr lang="en-US" b="1" dirty="0"/>
              <a:t>AICTE STU ID :</a:t>
            </a:r>
            <a:r>
              <a:rPr lang="en-IN" dirty="0"/>
              <a:t> STU6a2c1f983c5c01781276568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02210" y="688835"/>
            <a:ext cx="6276109" cy="830997"/>
          </a:xfrm>
        </p:spPr>
        <p:txBody>
          <a:bodyPr>
            <a:normAutofit fontScale="90000"/>
          </a:bodyPr>
          <a:lstStyle/>
          <a:p>
            <a:r>
              <a:rPr lang="en-GB" sz="4400" dirty="0"/>
              <a:t>Project Description </a:t>
            </a:r>
            <a:br>
              <a:rPr lang="en-GB" sz="1100" dirty="0"/>
            </a:br>
            <a:br>
              <a:rPr lang="en-IN" sz="1300" dirty="0"/>
            </a:br>
            <a:br>
              <a:rPr lang="en-GB" sz="1300" dirty="0"/>
            </a:br>
            <a:br>
              <a:rPr lang="en-GB" sz="1300" dirty="0"/>
            </a:br>
            <a:br>
              <a:rPr lang="en-GB" sz="1300" dirty="0"/>
            </a:br>
            <a:endParaRPr lang="en-IN" sz="13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0E952CF4-F91B-2FA3-2022-BE6BF83B5474}"/>
              </a:ext>
            </a:extLst>
          </p:cNvPr>
          <p:cNvSpPr txBox="1"/>
          <p:nvPr/>
        </p:nvSpPr>
        <p:spPr>
          <a:xfrm>
            <a:off x="235970" y="2136338"/>
            <a:ext cx="11956030" cy="2585323"/>
          </a:xfrm>
          <a:prstGeom prst="rect">
            <a:avLst/>
          </a:prstGeom>
          <a:noFill/>
        </p:spPr>
        <p:txBody>
          <a:bodyPr wrap="none" rtlCol="0">
            <a:spAutoFit/>
          </a:bodyPr>
          <a:lstStyle/>
          <a:p>
            <a:r>
              <a:rPr lang="en-IN" dirty="0"/>
              <a:t>Seasonal Agriculture Performance Analysis is a data analytics project that studies agricultural performance across</a:t>
            </a:r>
          </a:p>
          <a:p>
            <a:r>
              <a:rPr lang="en-IN" dirty="0"/>
              <a:t>different seasons, crops, and </a:t>
            </a:r>
            <a:r>
              <a:rPr lang="en-IN" dirty="0" err="1"/>
              <a:t>regions.The</a:t>
            </a:r>
            <a:r>
              <a:rPr lang="en-IN" dirty="0"/>
              <a:t> project </a:t>
            </a:r>
            <a:r>
              <a:rPr lang="en-IN" dirty="0" err="1"/>
              <a:t>analyzes</a:t>
            </a:r>
            <a:r>
              <a:rPr lang="en-IN" dirty="0"/>
              <a:t> factors such as rainfall, temperature, humidity, soil </a:t>
            </a:r>
          </a:p>
          <a:p>
            <a:r>
              <a:rPr lang="en-IN" dirty="0"/>
              <a:t>conditions, fertilizer </a:t>
            </a:r>
            <a:r>
              <a:rPr lang="en-IN" dirty="0" err="1"/>
              <a:t>usage,water</a:t>
            </a:r>
            <a:r>
              <a:rPr lang="en-IN" dirty="0"/>
              <a:t> consumption, and disease </a:t>
            </a:r>
            <a:r>
              <a:rPr lang="en-IN" dirty="0" err="1"/>
              <a:t>risk.It</a:t>
            </a:r>
            <a:r>
              <a:rPr lang="en-IN" dirty="0"/>
              <a:t> examines how these seasonal and </a:t>
            </a:r>
          </a:p>
          <a:p>
            <a:r>
              <a:rPr lang="en-IN" dirty="0"/>
              <a:t>environmental factors affect crop yield, production, revenue, costs, and </a:t>
            </a:r>
            <a:r>
              <a:rPr lang="en-IN" dirty="0" err="1"/>
              <a:t>profit.Statistical</a:t>
            </a:r>
            <a:r>
              <a:rPr lang="en-IN" dirty="0"/>
              <a:t> analysis and </a:t>
            </a:r>
          </a:p>
          <a:p>
            <a:r>
              <a:rPr lang="en-IN" dirty="0"/>
              <a:t>visualizations are used to identify important patterns, trends, </a:t>
            </a:r>
            <a:r>
              <a:rPr lang="en-IN" dirty="0" err="1"/>
              <a:t>relationships,and</a:t>
            </a:r>
            <a:r>
              <a:rPr lang="en-IN" dirty="0"/>
              <a:t> variations in agricultural </a:t>
            </a:r>
          </a:p>
          <a:p>
            <a:r>
              <a:rPr lang="en-IN" dirty="0" err="1"/>
              <a:t>performance.The</a:t>
            </a:r>
            <a:r>
              <a:rPr lang="en-IN" dirty="0"/>
              <a:t> project also compares crops, irrigation methods, and seasonal performance to </a:t>
            </a:r>
          </a:p>
          <a:p>
            <a:r>
              <a:rPr lang="en-IN" dirty="0"/>
              <a:t>identify the best-performing </a:t>
            </a:r>
            <a:r>
              <a:rPr lang="en-IN" dirty="0" err="1"/>
              <a:t>combinations.The</a:t>
            </a:r>
            <a:r>
              <a:rPr lang="en-IN" dirty="0"/>
              <a:t> final outcome is a seasonal agriculture dashboard that</a:t>
            </a:r>
          </a:p>
          <a:p>
            <a:r>
              <a:rPr lang="en-IN" dirty="0"/>
              <a:t> provides data-driven insights to support better agricultural planning and decision-making.</a:t>
            </a:r>
            <a:br>
              <a:rPr lang="en-IN" dirty="0"/>
            </a:b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655397" cy="3990023"/>
          </a:xfrm>
        </p:spPr>
        <p:txBody>
          <a:bodyPr>
            <a:normAutofit/>
          </a:bodyPr>
          <a:lstStyle/>
          <a:p>
            <a:pPr algn="just">
              <a:lnSpc>
                <a:spcPct val="100000"/>
              </a:lnSpc>
            </a:pPr>
            <a:r>
              <a:rPr lang="en-IN" sz="3600" b="1" dirty="0"/>
              <a:t>Agricultural officers</a:t>
            </a:r>
            <a:r>
              <a:rPr lang="en-IN" sz="3600" dirty="0"/>
              <a:t> </a:t>
            </a:r>
          </a:p>
          <a:p>
            <a:pPr algn="just">
              <a:lnSpc>
                <a:spcPct val="100000"/>
              </a:lnSpc>
            </a:pPr>
            <a:r>
              <a:rPr lang="en-IN" sz="3600" b="1" dirty="0"/>
              <a:t>Farmers</a:t>
            </a:r>
            <a:r>
              <a:rPr lang="en-IN" sz="3600" dirty="0"/>
              <a:t> </a:t>
            </a:r>
          </a:p>
          <a:p>
            <a:pPr algn="just">
              <a:lnSpc>
                <a:spcPct val="100000"/>
              </a:lnSpc>
            </a:pPr>
            <a:r>
              <a:rPr lang="en-IN" sz="3600" dirty="0"/>
              <a:t>Agriculture Planners &amp; Policymakers</a:t>
            </a:r>
          </a:p>
          <a:p>
            <a:pPr algn="just">
              <a:lnSpc>
                <a:spcPct val="100000"/>
              </a:lnSpc>
            </a:pPr>
            <a:r>
              <a:rPr lang="en-IN" sz="3600" b="1" dirty="0"/>
              <a:t>Agribusinesses</a:t>
            </a:r>
            <a:r>
              <a:rPr lang="en-IN" sz="3600" dirty="0"/>
              <a:t> </a:t>
            </a:r>
          </a:p>
          <a:p>
            <a:pPr algn="just">
              <a:lnSpc>
                <a:spcPct val="100000"/>
              </a:lnSpc>
            </a:pPr>
            <a:r>
              <a:rPr lang="en-IN" sz="3600" dirty="0"/>
              <a:t>Researchers &amp; analysts</a:t>
            </a:r>
          </a:p>
          <a:p>
            <a:pPr algn="just">
              <a:lnSpc>
                <a:spcPct val="10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00000"/>
              </a:lnSpc>
            </a:pPr>
            <a:r>
              <a:rPr lang="en-IN" dirty="0"/>
              <a:t>Python</a:t>
            </a:r>
          </a:p>
          <a:p>
            <a:pPr lvl="1">
              <a:lnSpc>
                <a:spcPct val="100000"/>
              </a:lnSpc>
            </a:pPr>
            <a:r>
              <a:rPr lang="en-IN" dirty="0"/>
              <a:t> Google </a:t>
            </a:r>
            <a:r>
              <a:rPr lang="en-IN" dirty="0" err="1"/>
              <a:t>Colab</a:t>
            </a:r>
            <a:endParaRPr lang="en-IN" dirty="0"/>
          </a:p>
          <a:p>
            <a:pPr lvl="1">
              <a:lnSpc>
                <a:spcPct val="100000"/>
              </a:lnSpc>
            </a:pPr>
            <a:r>
              <a:rPr lang="en-IN" dirty="0"/>
              <a:t> Pandas </a:t>
            </a:r>
          </a:p>
          <a:p>
            <a:pPr lvl="1">
              <a:lnSpc>
                <a:spcPct val="100000"/>
              </a:lnSpc>
            </a:pPr>
            <a:r>
              <a:rPr lang="en-IN" dirty="0"/>
              <a:t>NumPy</a:t>
            </a:r>
          </a:p>
          <a:p>
            <a:pPr lvl="1">
              <a:lnSpc>
                <a:spcPct val="100000"/>
              </a:lnSpc>
            </a:pPr>
            <a:r>
              <a:rPr lang="en-IN" dirty="0"/>
              <a:t> Matplotlib</a:t>
            </a:r>
          </a:p>
          <a:p>
            <a:pPr lvl="1">
              <a:lnSpc>
                <a:spcPct val="100000"/>
              </a:lnSpc>
            </a:pPr>
            <a:r>
              <a:rPr lang="en-IN" dirty="0"/>
              <a:t> Seaborn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872D414-69C9-7FEC-CDD7-9994DE85DE96}"/>
              </a:ext>
            </a:extLst>
          </p:cNvPr>
          <p:cNvPicPr>
            <a:picLocks noChangeAspect="1"/>
          </p:cNvPicPr>
          <p:nvPr/>
        </p:nvPicPr>
        <p:blipFill>
          <a:blip r:embed="rId3"/>
          <a:stretch>
            <a:fillRect/>
          </a:stretch>
        </p:blipFill>
        <p:spPr>
          <a:xfrm>
            <a:off x="0" y="1137037"/>
            <a:ext cx="5362182" cy="3996478"/>
          </a:xfrm>
          <a:prstGeom prst="rect">
            <a:avLst/>
          </a:prstGeom>
        </p:spPr>
      </p:pic>
      <p:pic>
        <p:nvPicPr>
          <p:cNvPr id="9" name="Picture 8">
            <a:extLst>
              <a:ext uri="{FF2B5EF4-FFF2-40B4-BE49-F238E27FC236}">
                <a16:creationId xmlns:a16="http://schemas.microsoft.com/office/drawing/2014/main" id="{8967D5DB-2AF4-2BA2-12B3-9E12F00F47C8}"/>
              </a:ext>
            </a:extLst>
          </p:cNvPr>
          <p:cNvPicPr>
            <a:picLocks noChangeAspect="1"/>
          </p:cNvPicPr>
          <p:nvPr/>
        </p:nvPicPr>
        <p:blipFill>
          <a:blip r:embed="rId4"/>
          <a:stretch>
            <a:fillRect/>
          </a:stretch>
        </p:blipFill>
        <p:spPr>
          <a:xfrm>
            <a:off x="5741019" y="1137037"/>
            <a:ext cx="5586765" cy="399647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320982" y="19303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A52B785-3767-46A9-2E04-92DC64AFA652}"/>
              </a:ext>
            </a:extLst>
          </p:cNvPr>
          <p:cNvPicPr>
            <a:picLocks noChangeAspect="1"/>
          </p:cNvPicPr>
          <p:nvPr/>
        </p:nvPicPr>
        <p:blipFill>
          <a:blip r:embed="rId3"/>
          <a:stretch>
            <a:fillRect/>
          </a:stretch>
        </p:blipFill>
        <p:spPr>
          <a:xfrm>
            <a:off x="0" y="1024036"/>
            <a:ext cx="11934908" cy="553579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D12883D-4ADE-18F9-D219-B245A5812F04}"/>
              </a:ext>
            </a:extLst>
          </p:cNvPr>
          <p:cNvPicPr>
            <a:picLocks noChangeAspect="1"/>
          </p:cNvPicPr>
          <p:nvPr/>
        </p:nvPicPr>
        <p:blipFill>
          <a:blip r:embed="rId3"/>
          <a:stretch>
            <a:fillRect/>
          </a:stretch>
        </p:blipFill>
        <p:spPr>
          <a:xfrm>
            <a:off x="0" y="1275371"/>
            <a:ext cx="5669280" cy="3966867"/>
          </a:xfrm>
          <a:prstGeom prst="rect">
            <a:avLst/>
          </a:prstGeom>
        </p:spPr>
      </p:pic>
      <p:pic>
        <p:nvPicPr>
          <p:cNvPr id="9" name="Picture 8">
            <a:extLst>
              <a:ext uri="{FF2B5EF4-FFF2-40B4-BE49-F238E27FC236}">
                <a16:creationId xmlns:a16="http://schemas.microsoft.com/office/drawing/2014/main" id="{1DA1A426-54B4-1133-6AEB-10AB7592EA73}"/>
              </a:ext>
            </a:extLst>
          </p:cNvPr>
          <p:cNvPicPr>
            <a:picLocks noChangeAspect="1"/>
          </p:cNvPicPr>
          <p:nvPr/>
        </p:nvPicPr>
        <p:blipFill>
          <a:blip r:embed="rId4"/>
          <a:stretch>
            <a:fillRect/>
          </a:stretch>
        </p:blipFill>
        <p:spPr>
          <a:xfrm>
            <a:off x="5763453" y="1275371"/>
            <a:ext cx="5669280" cy="396686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6D71F47-47E0-4106-6DB2-9A5A458B93E5}"/>
              </a:ext>
            </a:extLst>
          </p:cNvPr>
          <p:cNvPicPr>
            <a:picLocks noChangeAspect="1"/>
          </p:cNvPicPr>
          <p:nvPr/>
        </p:nvPicPr>
        <p:blipFill>
          <a:blip r:embed="rId3"/>
          <a:stretch>
            <a:fillRect/>
          </a:stretch>
        </p:blipFill>
        <p:spPr>
          <a:xfrm>
            <a:off x="320982" y="1173469"/>
            <a:ext cx="10872238" cy="539497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12FC6FF-F77C-4CC2-53FB-26719A78CF6B}"/>
              </a:ext>
            </a:extLst>
          </p:cNvPr>
          <p:cNvPicPr>
            <a:picLocks noChangeAspect="1"/>
          </p:cNvPicPr>
          <p:nvPr/>
        </p:nvPicPr>
        <p:blipFill>
          <a:blip r:embed="rId3"/>
          <a:stretch>
            <a:fillRect/>
          </a:stretch>
        </p:blipFill>
        <p:spPr>
          <a:xfrm>
            <a:off x="675957" y="1092440"/>
            <a:ext cx="9043434" cy="539497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2F0D4-F43E-F203-7861-A1BA6BDBED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4E7C9C9-555E-0DC3-E2C8-26656E109F1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A8DA8FD-20AE-024B-0D94-E7A35839FB39}"/>
              </a:ext>
            </a:extLst>
          </p:cNvPr>
          <p:cNvSpPr>
            <a:spLocks noGrp="1"/>
          </p:cNvSpPr>
          <p:nvPr>
            <p:ph type="title"/>
          </p:nvPr>
        </p:nvSpPr>
        <p:spPr>
          <a:xfrm>
            <a:off x="0" y="-106076"/>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3F37691-3E20-DE8F-BCCE-33A2B2F9A4A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EB8A480-4538-2D9C-5FD4-658ED90A6DD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F1A67D3-E2BE-EC1C-6803-1B7BD9838BF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A5367D45-FEF5-2249-91D7-87F98FA60DFE}"/>
              </a:ext>
            </a:extLst>
          </p:cNvPr>
          <p:cNvPicPr>
            <a:picLocks noChangeAspect="1"/>
          </p:cNvPicPr>
          <p:nvPr/>
        </p:nvPicPr>
        <p:blipFill>
          <a:blip r:embed="rId3"/>
          <a:stretch>
            <a:fillRect/>
          </a:stretch>
        </p:blipFill>
        <p:spPr>
          <a:xfrm>
            <a:off x="0" y="660898"/>
            <a:ext cx="9955033" cy="5946636"/>
          </a:xfrm>
          <a:prstGeom prst="rect">
            <a:avLst/>
          </a:prstGeom>
        </p:spPr>
      </p:pic>
    </p:spTree>
    <p:extLst>
      <p:ext uri="{BB962C8B-B14F-4D97-AF65-F5344CB8AC3E}">
        <p14:creationId xmlns:p14="http://schemas.microsoft.com/office/powerpoint/2010/main" val="265070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7D1C1-88E8-33BE-39AD-0E9C372788E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79C16AD-F1C1-E4D7-2E9C-59BFA305975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31CB8D8-1459-9712-697F-734E82519E5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C26D2FA-FA75-7F86-D5F3-72A71625544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27F5EF4-C41D-1D00-E2EB-62778D2BE28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5EB9DCA-B826-3B1E-4A34-396A3A281CEB}"/>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CDCD4AC-C3DC-951D-E57B-D9C1A79D94CC}"/>
              </a:ext>
            </a:extLst>
          </p:cNvPr>
          <p:cNvPicPr>
            <a:picLocks noChangeAspect="1"/>
          </p:cNvPicPr>
          <p:nvPr/>
        </p:nvPicPr>
        <p:blipFill>
          <a:blip r:embed="rId3"/>
          <a:stretch>
            <a:fillRect/>
          </a:stretch>
        </p:blipFill>
        <p:spPr>
          <a:xfrm>
            <a:off x="255659" y="1143341"/>
            <a:ext cx="10224160" cy="5456242"/>
          </a:xfrm>
          <a:prstGeom prst="rect">
            <a:avLst/>
          </a:prstGeom>
        </p:spPr>
      </p:pic>
    </p:spTree>
    <p:extLst>
      <p:ext uri="{BB962C8B-B14F-4D97-AF65-F5344CB8AC3E}">
        <p14:creationId xmlns:p14="http://schemas.microsoft.com/office/powerpoint/2010/main" val="21338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51230BA-2FBB-93B5-D5CF-D580E4C8EF3F}"/>
              </a:ext>
            </a:extLst>
          </p:cNvPr>
          <p:cNvSpPr txBox="1"/>
          <p:nvPr/>
        </p:nvSpPr>
        <p:spPr>
          <a:xfrm>
            <a:off x="174567" y="2312659"/>
            <a:ext cx="11455380" cy="2308324"/>
          </a:xfrm>
          <a:prstGeom prst="rect">
            <a:avLst/>
          </a:prstGeom>
          <a:noFill/>
        </p:spPr>
        <p:txBody>
          <a:bodyPr wrap="none" rtlCol="0">
            <a:spAutoFit/>
          </a:bodyPr>
          <a:lstStyle/>
          <a:p>
            <a:pPr marL="285750" indent="-285750">
              <a:buFont typeface="Arial" panose="020B0604020202020204" pitchFamily="34" charset="0"/>
              <a:buChar char="•"/>
            </a:pPr>
            <a:r>
              <a:rPr lang="en-IN" dirty="0"/>
              <a:t>Future versions can include </a:t>
            </a:r>
            <a:r>
              <a:rPr lang="en-IN" b="1" dirty="0"/>
              <a:t>real-time market price analysis</a:t>
            </a:r>
            <a:r>
              <a:rPr lang="en-IN" dirty="0"/>
              <a:t> to help farmers improve profitability.</a:t>
            </a:r>
          </a:p>
          <a:p>
            <a:pPr marL="285750" indent="-285750">
              <a:buFont typeface="Arial" panose="020B0604020202020204" pitchFamily="34" charset="0"/>
              <a:buChar char="•"/>
            </a:pPr>
            <a:r>
              <a:rPr lang="en-IN" dirty="0"/>
              <a:t>The dashboard can be developed into an </a:t>
            </a:r>
            <a:r>
              <a:rPr lang="en-IN" b="1" dirty="0"/>
              <a:t>interactive web or mobile application</a:t>
            </a:r>
            <a:r>
              <a:rPr lang="en-IN" dirty="0"/>
              <a:t> for easier access by </a:t>
            </a:r>
          </a:p>
          <a:p>
            <a:r>
              <a:rPr lang="en-IN" dirty="0"/>
              <a:t>     farmers and agricultural officers.</a:t>
            </a:r>
          </a:p>
          <a:p>
            <a:pPr marL="285750" indent="-285750">
              <a:buFont typeface="Arial" panose="020B0604020202020204" pitchFamily="34" charset="0"/>
              <a:buChar char="•"/>
            </a:pPr>
            <a:r>
              <a:rPr lang="en-IN" dirty="0"/>
              <a:t>The system can provide </a:t>
            </a:r>
            <a:r>
              <a:rPr lang="en-IN" b="1" dirty="0"/>
              <a:t>early warnings for disease and pest risks</a:t>
            </a:r>
            <a:r>
              <a:rPr lang="en-IN" dirty="0"/>
              <a:t>.</a:t>
            </a:r>
          </a:p>
          <a:p>
            <a:pPr marL="285750" indent="-285750">
              <a:buFont typeface="Arial" panose="020B0604020202020204" pitchFamily="34" charset="0"/>
              <a:buChar char="•"/>
            </a:pPr>
            <a:r>
              <a:rPr lang="en-IN" dirty="0"/>
              <a:t>A </a:t>
            </a:r>
            <a:r>
              <a:rPr lang="en-IN" b="1" dirty="0"/>
              <a:t>crop recommendation system</a:t>
            </a:r>
            <a:r>
              <a:rPr lang="en-IN" dirty="0"/>
              <a:t> can suggest suitable crops based on soil and seasonal conditions.</a:t>
            </a:r>
          </a:p>
          <a:p>
            <a:pPr marL="285750" indent="-285750">
              <a:buFont typeface="Arial" panose="020B0604020202020204" pitchFamily="34" charset="0"/>
              <a:buChar char="•"/>
            </a:pPr>
            <a:r>
              <a:rPr lang="en-IN" b="1" dirty="0"/>
              <a:t>Machine learning models</a:t>
            </a:r>
            <a:r>
              <a:rPr lang="en-IN" dirty="0"/>
              <a:t> can be added to predict crop yield and agricultural performance.</a:t>
            </a:r>
          </a:p>
          <a:p>
            <a:pPr marL="285750" indent="-285750">
              <a:buFont typeface="Arial" panose="020B0604020202020204" pitchFamily="34" charset="0"/>
              <a:buChar char="•"/>
            </a:pPr>
            <a:r>
              <a:rPr lang="en-IN" dirty="0"/>
              <a:t>The project can be extended to include </a:t>
            </a:r>
            <a:r>
              <a:rPr lang="en-IN" b="1" dirty="0"/>
              <a:t>real-time weather and climate data</a:t>
            </a:r>
            <a:r>
              <a:rPr lang="en-IN" dirty="0"/>
              <a:t> for more accurate seasonal </a:t>
            </a:r>
          </a:p>
          <a:p>
            <a:r>
              <a:rPr lang="en-IN" dirty="0"/>
              <a:t>     analysis.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2304844"/>
            <a:ext cx="7232875" cy="646331"/>
          </a:xfrm>
          <a:prstGeom prst="rect">
            <a:avLst/>
          </a:prstGeom>
          <a:noFill/>
        </p:spPr>
        <p:txBody>
          <a:bodyPr wrap="square">
            <a:spAutoFit/>
          </a:bodyPr>
          <a:lstStyle/>
          <a:p>
            <a:r>
              <a:rPr lang="en-US" dirty="0"/>
              <a:t>https://github.com/Viha07/-Seasonal-Agriculture-Performance-Analysis-.git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6212D59-DA07-BF2D-BE34-640ADDF6DB39}"/>
              </a:ext>
            </a:extLst>
          </p:cNvPr>
          <p:cNvPicPr>
            <a:picLocks noChangeAspect="1"/>
          </p:cNvPicPr>
          <p:nvPr/>
        </p:nvPicPr>
        <p:blipFill>
          <a:blip r:embed="rId3"/>
          <a:stretch>
            <a:fillRect/>
          </a:stretch>
        </p:blipFill>
        <p:spPr>
          <a:xfrm>
            <a:off x="675957" y="1571105"/>
            <a:ext cx="8922209" cy="482138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1413</TotalTime>
  <Words>468</Words>
  <Application>Microsoft Office PowerPoint</Application>
  <PresentationFormat>Widescreen</PresentationFormat>
  <Paragraphs>57</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HASINIVIHAGNA KODEPAKA</cp:lastModifiedBy>
  <cp:revision>99</cp:revision>
  <dcterms:created xsi:type="dcterms:W3CDTF">2021-07-11T13:13:15Z</dcterms:created>
  <dcterms:modified xsi:type="dcterms:W3CDTF">2026-09-05T08:14:49Z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